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Greeting + one-line hook: this project is a complete monitoring pipeline — from a simulator, through the cloud, to an AI-assisted review dashboard. Fill in your name, guide and department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quickly: architecture first, then each component with its objective and working, then the AI results, then results and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gap this addresses and set honest expectations right at the start. The objective list doubles as the project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flow left to right. Mention the second, direct path for the physical board, covered by the dashed note under the Wokwi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 per tile; the next slides explain the important ones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sensor gently against the fingertip. Stress the difference between PPG and ECG, and that the firmware's variability flag is a coarse heuristic, not a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to show the physical wiring. Three points: 3.3 V only, address 0x57, keep still.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the simulator replaced hardware during development and what it does and does not prove. Mention the 20 s cadence and why (free-tier rate limit).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ThingSpeak provides the storage layer and MATLAB plotting. The read API is what the bridge consumes — this decouples the cloud from the local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localhost problem in one sentence, then the state file as the exactly-once mechanism. The code box shows real console output from the live run with the user's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validation as the first line of data hygiene. Mention SQLite WAL and automatic schema setup — zero manual database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two stages in one breath each: rules anyone can audit; a model that learns your device's normal. Emphasise the model needs history and resets on restart.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real numbers: HR 45 flagged live; the 152 outlier after 61 samples. Reiterate that flags are advisory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live dashboard if possible. Point at the metric cards, the AI review panel, and the flags column in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one real reading end-to-end and land on the dashboard row. This proves the chain with a real ThingSpeak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the verification matrix. Every claim here was observed on the running system; the last row shows engineering hygiene — defects were found and fixed during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candid about limitations; frame next steps as the path to research-grade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one-liner: the pipeline works end to end and is honest about what it is.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298448"/>
            <a:ext cx="1051560" cy="640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D6E4"/>
                </a:solidFill>
                <a:latin typeface="Segoe UI"/>
              </a:rPr>
              <a:t>ACADEMIC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Pulse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4203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C9D6E4"/>
                </a:solidFill>
                <a:latin typeface="Segoe UI"/>
              </a:rPr>
              <a:t>ESP32-based heart-rate &amp; SpO₂ monitoring with cloud logging and AI-assisted measurement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46704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9FB4C9"/>
                </a:solidFill>
                <a:latin typeface="Segoe UI"/>
              </a:rPr>
              <a:t>Wokwi simulation  ·  ThingSpeak cloud  ·  Python bridge  ·  AI service  ·  SQLite  ·  web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950208"/>
            <a:ext cx="4206240" cy="14630"/>
          </a:xfrm>
          <a:prstGeom prst="rect">
            <a:avLst/>
          </a:prstGeom>
          <a:solidFill>
            <a:srgbClr val="35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33087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C9D6E4"/>
                </a:solidFill>
                <a:latin typeface="Segoe UI"/>
              </a:rPr>
              <a:t>Presented by:  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6227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C9D6E4"/>
                </a:solidFill>
                <a:latin typeface="Segoe UI"/>
              </a:rPr>
              <a:t>Guide:  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91455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C9D6E4"/>
                </a:solidFill>
                <a:latin typeface="Segoe UI"/>
              </a:rPr>
              <a:t>Department of ______________________   ·   Oct 2026</a:t>
            </a:r>
          </a:p>
        </p:txBody>
      </p:sp>
      <p:pic>
        <p:nvPicPr>
          <p:cNvPr id="12" name="Picture 11" descr="pulse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5413248"/>
            <a:ext cx="8412480" cy="144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6400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550" b="0" i="0">
                <a:solidFill>
                  <a:srgbClr val="1F2A37"/>
                </a:solidFill>
                <a:latin typeface="Segoe UI"/>
              </a:rPr>
              <a:t>1.  Problem &amp; objectives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550" b="0" i="0">
                <a:solidFill>
                  <a:srgbClr val="1F2A37"/>
                </a:solidFill>
                <a:latin typeface="Segoe UI"/>
              </a:rPr>
              <a:t>2.  System architecture at a glance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550" b="0" i="0">
                <a:solidFill>
                  <a:srgbClr val="1F2A37"/>
                </a:solidFill>
                <a:latin typeface="Segoe UI"/>
              </a:rPr>
              <a:t>3.  Components — role, objective &amp; how each works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550" b="0" i="0">
                <a:solidFill>
                  <a:srgbClr val="1F2A37"/>
                </a:solidFill>
                <a:latin typeface="Segoe UI"/>
              </a:rPr>
              <a:t>4.  Cloud path: ThingSpeak → bridge → local API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550" b="0" i="0">
                <a:solidFill>
                  <a:srgbClr val="1F2A37"/>
                </a:solidFill>
                <a:latin typeface="Segoe UI"/>
              </a:rPr>
              <a:t>5.  What the AI service does — and what it returned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550" b="0" i="0">
                <a:solidFill>
                  <a:srgbClr val="1F2A37"/>
                </a:solidFill>
                <a:latin typeface="Segoe UI"/>
              </a:rPr>
              <a:t>6.  Dashboard &amp; end-to-end walkthrough of one reading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550" b="0" i="0">
                <a:solidFill>
                  <a:srgbClr val="1F2A37"/>
                </a:solidFill>
                <a:latin typeface="Segoe UI"/>
              </a:rPr>
              <a:t>7.  Verification results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550" b="0" i="0">
                <a:solidFill>
                  <a:srgbClr val="1F2A37"/>
                </a:solidFill>
                <a:latin typeface="Segoe UI"/>
              </a:rPr>
              <a:t>8.  Limitations, safety &amp; future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463040"/>
            <a:ext cx="4236415" cy="283464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46304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50" b="1" i="0">
                <a:solidFill>
                  <a:srgbClr val="16324F"/>
                </a:solidFill>
                <a:latin typeface="Segoe UI"/>
              </a:rPr>
              <a:t>At a glance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B6B7C"/>
                </a:solidFill>
                <a:latin typeface="Segoe UI"/>
              </a:rPr>
              <a:t>1 simulation source · 1 cloud log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B6B7C"/>
                </a:solidFill>
                <a:latin typeface="Segoe UI"/>
              </a:rPr>
              <a:t>3 local services · 1 database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B6B7C"/>
                </a:solidFill>
                <a:latin typeface="Segoe UI"/>
              </a:rPr>
              <a:t>2-stage AI review layer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B6B7C"/>
                </a:solidFill>
                <a:latin typeface="Segoe UI"/>
              </a:rPr>
              <a:t>every claim verified on the running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Why this project: problem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5394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8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Continuous vitals logging is easy to start but hard to finish — data ends up stranded in one cloud dashboard.</a:t>
            </a:r>
          </a:p>
          <a:p>
            <a:pPr algn="l" marL="237744" indent="-237744">
              <a:lnSpc>
                <a:spcPct val="105000"/>
              </a:lnSpc>
              <a:spcAft>
                <a:spcPts val="8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No local record, no review layer, and no context for what the numbers mean.</a:t>
            </a:r>
          </a:p>
          <a:p>
            <a:pPr algn="l" marL="237744" indent="-237744">
              <a:lnSpc>
                <a:spcPct val="105000"/>
              </a:lnSpc>
              <a:spcAft>
                <a:spcPts val="8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Early prototypes often imply medical accuracy they do not have.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28016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64208"/>
            <a:ext cx="5349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Acquire pulse + SpO₂ estimates optically (MAX30102 on an ESP32).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Reject invalid measurement windows before anything is uploaded.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Persist every valid reading locally (SQLite) and visualise it live.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Let the user log symptoms so readings have context.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Publish to ThingSpeak for cloud storage and MATLAB analysis.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Add an honest AI layer: transparent rules + unsupervised anomaly scoring.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623560"/>
            <a:ext cx="11185855" cy="658368"/>
          </a:xfrm>
          <a:prstGeom prst="roundRect">
            <a:avLst>
              <a:gd name="adj" fmla="val 14000"/>
            </a:avLst>
          </a:prstGeom>
          <a:solidFill>
            <a:srgbClr val="FDF1F0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 i="0">
                <a:solidFill>
                  <a:srgbClr val="C0392B"/>
                </a:solidFill>
                <a:latin typeface="Segoe UI"/>
              </a:rPr>
              <a:t>Research prototype — not a medical device. It does not diagnose anything, and it is not a substitute for professional care.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1170432"/>
            <a:ext cx="905256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8064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5B6B7C"/>
                </a:solidFill>
                <a:latin typeface="Segoe UI"/>
              </a:rPr>
              <a:t>Two ingestion paths converge on one local API: the cloud path (simulation → ThingSpeak → bridge) and a direct LAN path (physical board). Every stored reading is scored by the AI service, and the dashboard reads only from the local API — one source of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Components at a glance — each has one clear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6517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9"/>
                </a:solidFill>
                <a:latin typeface="Segoe UI"/>
              </a:rPr>
              <a:t>MAX30102 sensor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Segoe UI"/>
              </a:rPr>
              <a:t>Optical PPG: red + IR LEDs and a photodiode yield pulse and SpO₂ estimates.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1371600"/>
            <a:ext cx="26517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9"/>
                </a:solidFill>
                <a:latin typeface="Segoe UI"/>
              </a:rPr>
              <a:t>ESP32 DevKit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Segoe UI"/>
              </a:rPr>
              <a:t>Reads the sensor over I²C, validates windows, uploads over Wi-Fi.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1371600"/>
            <a:ext cx="26517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9"/>
                </a:solidFill>
                <a:latin typeface="Segoe UI"/>
              </a:rPr>
              <a:t>Wokwi simulation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Segoe UI"/>
              </a:rPr>
              <a:t>ESP32 + OLED + pots reproduce the firmware without hardware.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34272" y="1371600"/>
            <a:ext cx="26517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32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0F766E"/>
                </a:solidFill>
                <a:latin typeface="Segoe UI"/>
              </a:rPr>
              <a:t>ThingSpeak channel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Segoe UI"/>
              </a:rPr>
              <a:t>Cloud log (Fields 1–4) + REST read API for the PC.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84448"/>
            <a:ext cx="26517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0E7490"/>
                </a:solidFill>
                <a:latin typeface="Segoe UI"/>
              </a:rPr>
              <a:t>Bridge (Python)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Segoe UI"/>
              </a:rPr>
              <a:t>Polls the channel, dedupes entries, forwards to the local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3584448"/>
            <a:ext cx="26517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32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Node API + SQLite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Segoe UI"/>
              </a:rPr>
              <a:t>Validation, persistence, AI calls, REST for the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3584448"/>
            <a:ext cx="26517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32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7C3AED"/>
                </a:solidFill>
                <a:latin typeface="Segoe UI"/>
              </a:rPr>
              <a:t>AI service (FastAPI)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Segoe UI"/>
              </a:rPr>
              <a:t>Review rules + Isolation Forest anomaly scoring.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3584448"/>
            <a:ext cx="26517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32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4338CA"/>
                </a:solidFill>
                <a:latin typeface="Segoe UI"/>
              </a:rPr>
              <a:t>Dashboard (web)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Segoe UI"/>
              </a:rPr>
              <a:t>Metrics, latest AI review, flags table, symptom journal.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Core hardware — MAX30102 sensor &amp; ESP32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5778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500"/>
              </a:spcAft>
              <a:buFont typeface="Segoe UI"/>
              <a:buChar char="•"/>
            </a:pPr>
            <a:r>
              <a:rPr sz="1300" b="0" i="0">
                <a:solidFill>
                  <a:srgbClr val="1F2A37"/>
                </a:solidFill>
                <a:latin typeface="Segoe UI"/>
              </a:rPr>
              <a:t>MAX30102 — objective: acquire the pulse waveform optically.</a:t>
            </a:r>
          </a:p>
          <a:p>
            <a:pPr algn="l" marL="475488" indent="-219456">
              <a:lnSpc>
                <a:spcPct val="105000"/>
              </a:lnSpc>
              <a:spcAft>
                <a:spcPts val="500"/>
              </a:spcAft>
              <a:buFont typeface="Segoe UI"/>
              <a:buChar char="–"/>
            </a:pPr>
            <a:r>
              <a:rPr sz="1150" b="0" i="0">
                <a:solidFill>
                  <a:srgbClr val="5B6B7C"/>
                </a:solidFill>
                <a:latin typeface="Segoe UI"/>
              </a:rPr>
              <a:t>Red + IR LEDs shine into the skin; a photodiode measures the reflected light.</a:t>
            </a:r>
          </a:p>
          <a:p>
            <a:pPr algn="l" marL="475488" indent="-219456">
              <a:lnSpc>
                <a:spcPct val="105000"/>
              </a:lnSpc>
              <a:spcAft>
                <a:spcPts val="500"/>
              </a:spcAft>
              <a:buFont typeface="Segoe UI"/>
              <a:buChar char="–"/>
            </a:pPr>
            <a:r>
              <a:rPr sz="1150" b="0" i="0">
                <a:solidFill>
                  <a:srgbClr val="5B6B7C"/>
                </a:solidFill>
                <a:latin typeface="Segoe UI"/>
              </a:rPr>
              <a:t>Pulse rate and SpO₂ are estimated from the light ratios (PPG).</a:t>
            </a:r>
          </a:p>
          <a:p>
            <a:pPr algn="l" marL="475488" indent="-219456">
              <a:lnSpc>
                <a:spcPct val="105000"/>
              </a:lnSpc>
              <a:spcAft>
                <a:spcPts val="500"/>
              </a:spcAft>
              <a:buFont typeface="Segoe UI"/>
              <a:buChar char="–"/>
            </a:pPr>
            <a:r>
              <a:rPr sz="1150" b="0" i="0">
                <a:solidFill>
                  <a:srgbClr val="5B6B7C"/>
                </a:solidFill>
                <a:latin typeface="Segoe UI"/>
              </a:rPr>
              <a:t>It is not an ECG — beat shape / electrical activity are not captured.</a:t>
            </a:r>
          </a:p>
          <a:p>
            <a:pPr algn="l" marL="237744" indent="-237744">
              <a:lnSpc>
                <a:spcPct val="105000"/>
              </a:lnSpc>
              <a:spcAft>
                <a:spcPts val="500"/>
              </a:spcAft>
              <a:buFont typeface="Segoe UI"/>
              <a:buChar char="•"/>
            </a:pPr>
            <a:r>
              <a:rPr sz="1300" b="0" i="0">
                <a:solidFill>
                  <a:srgbClr val="1F2A37"/>
                </a:solidFill>
                <a:latin typeface="Segoe UI"/>
              </a:rPr>
              <a:t>ESP32 — objective: turn raw samples into trustworthy readings.</a:t>
            </a:r>
          </a:p>
          <a:p>
            <a:pPr algn="l" marL="475488" indent="-219456">
              <a:lnSpc>
                <a:spcPct val="105000"/>
              </a:lnSpc>
              <a:spcAft>
                <a:spcPts val="500"/>
              </a:spcAft>
              <a:buFont typeface="Segoe UI"/>
              <a:buChar char="–"/>
            </a:pPr>
            <a:r>
              <a:rPr sz="1150" b="0" i="0">
                <a:solidFill>
                  <a:srgbClr val="5B6B7C"/>
                </a:solidFill>
                <a:latin typeface="Segoe UI"/>
              </a:rPr>
              <a:t>Reads the sensor over I²C in 100-sample windows (SparkFun MAX3010x library).</a:t>
            </a:r>
          </a:p>
          <a:p>
            <a:pPr algn="l" marL="475488" indent="-219456">
              <a:lnSpc>
                <a:spcPct val="105000"/>
              </a:lnSpc>
              <a:spcAft>
                <a:spcPts val="500"/>
              </a:spcAft>
              <a:buFont typeface="Segoe UI"/>
              <a:buChar char="–"/>
            </a:pPr>
            <a:r>
              <a:rPr sz="1150" b="0" i="0">
                <a:solidFill>
                  <a:srgbClr val="5B6B7C"/>
                </a:solidFill>
                <a:latin typeface="Segoe UI"/>
              </a:rPr>
              <a:t>Uploads only when a window is valid: pulse and SpO₂ found, ranges plausible.</a:t>
            </a:r>
          </a:p>
          <a:p>
            <a:pPr algn="l" marL="475488" indent="-219456">
              <a:lnSpc>
                <a:spcPct val="105000"/>
              </a:lnSpc>
              <a:spcAft>
                <a:spcPts val="500"/>
              </a:spcAft>
              <a:buFont typeface="Segoe UI"/>
              <a:buChar char="–"/>
            </a:pPr>
            <a:r>
              <a:rPr sz="1150" b="0" i="0">
                <a:solidFill>
                  <a:srgbClr val="5B6B7C"/>
                </a:solidFill>
                <a:latin typeface="Segoe UI"/>
              </a:rPr>
              <a:t>Adds a signal-quality heuristic and a beat-interval variability flag — explicitly not arrhythmia detection.</a:t>
            </a:r>
          </a:p>
        </p:txBody>
      </p:sp>
      <p:pic>
        <p:nvPicPr>
          <p:cNvPr id="6" name="Picture 5" descr="esp32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71600"/>
            <a:ext cx="2880360" cy="2249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36027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8FA0B3"/>
                </a:solidFill>
                <a:latin typeface="Segoe UI"/>
              </a:rPr>
              <a:t>ESP32 DevKit (photo: Wikimedia Commons, CC BY-SA 4.0)</a:t>
            </a:r>
          </a:p>
        </p:txBody>
      </p:sp>
      <p:pic>
        <p:nvPicPr>
          <p:cNvPr id="8" name="Picture 7" descr="max30102_mo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950208"/>
            <a:ext cx="2148840" cy="16116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55961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8FA0B3"/>
                </a:solidFill>
                <a:latin typeface="Segoe UI"/>
              </a:rPr>
              <a:t>MAX30102 module — red + IR LEDs and photodiode (illustration)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Interface — wiring the sensor to the 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89788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9400" y="1463040"/>
            <a:ext cx="50749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1000"/>
              </a:spcAft>
              <a:buFont typeface="Segoe UI"/>
              <a:buChar char="•"/>
            </a:pPr>
            <a:r>
              <a:rPr sz="1300" b="0" i="0">
                <a:solidFill>
                  <a:srgbClr val="1F2A37"/>
                </a:solidFill>
                <a:latin typeface="Segoe UI"/>
              </a:rPr>
              <a:t>I²C at 3.3 V: SDA → GPIO21, SCL → GPIO22; sensor address 0x57.</a:t>
            </a:r>
          </a:p>
          <a:p>
            <a:pPr algn="l" marL="237744" indent="-237744">
              <a:lnSpc>
                <a:spcPct val="105000"/>
              </a:lnSpc>
              <a:spcAft>
                <a:spcPts val="1000"/>
              </a:spcAft>
              <a:buFont typeface="Segoe UI"/>
              <a:buChar char="•"/>
            </a:pPr>
            <a:r>
              <a:rPr sz="1300" b="0" i="0">
                <a:solidFill>
                  <a:srgbClr val="1F2A37"/>
                </a:solidFill>
                <a:latin typeface="Segoe UI"/>
              </a:rPr>
              <a:t>The same wiring is mirrored one-to-one inside the Wokwi simulation.</a:t>
            </a:r>
          </a:p>
          <a:p>
            <a:pPr algn="l" marL="237744" indent="-237744">
              <a:lnSpc>
                <a:spcPct val="105000"/>
              </a:lnSpc>
              <a:spcAft>
                <a:spcPts val="1000"/>
              </a:spcAft>
              <a:buFont typeface="Segoe UI"/>
              <a:buChar char="•"/>
            </a:pPr>
            <a:r>
              <a:rPr sz="1300" b="0" i="0">
                <a:solidFill>
                  <a:srgbClr val="1F2A37"/>
                </a:solidFill>
                <a:latin typeface="Segoe UI"/>
              </a:rPr>
              <a:t>INT pin exists but is not used in this prototype.</a:t>
            </a:r>
          </a:p>
          <a:p>
            <a:pPr algn="l" marL="237744" indent="-237744">
              <a:lnSpc>
                <a:spcPct val="105000"/>
              </a:lnSpc>
              <a:spcAft>
                <a:spcPts val="1000"/>
              </a:spcAft>
              <a:buFont typeface="Segoe UI"/>
              <a:buChar char="•"/>
            </a:pPr>
            <a:r>
              <a:rPr sz="1300" b="0" i="0">
                <a:solidFill>
                  <a:srgbClr val="1F2A37"/>
                </a:solidFill>
                <a:latin typeface="Segoe UI"/>
              </a:rPr>
              <a:t>Practical quality note: short wires, gentle contact with the fingertip, keep still during measurement.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3977639"/>
            <a:ext cx="5056632" cy="1051560"/>
          </a:xfrm>
          <a:prstGeom prst="roundRect">
            <a:avLst>
              <a:gd name="adj" fmla="val 14000"/>
            </a:avLst>
          </a:prstGeom>
          <a:solidFill>
            <a:srgbClr val="FDF7EE"/>
          </a:solidFill>
          <a:ln w="1524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B45309"/>
                </a:solidFill>
                <a:latin typeface="Segoe UI"/>
              </a:rPr>
              <a:t>Powering the module from 5 V or swapping SDA/SCL are the two most common wiring mistakes — the sensor simply returns zeros when it is unhappy.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The Wokwi simulation — developing without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8521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1000"/>
              </a:spcAft>
              <a:buFont typeface="Segoe UI"/>
              <a:buChar char="•"/>
            </a:pPr>
            <a:r>
              <a:rPr sz="1300" b="0" i="0">
                <a:solidFill>
                  <a:srgbClr val="1F2A37"/>
                </a:solidFill>
                <a:latin typeface="Segoe UI"/>
              </a:rPr>
              <a:t>Objective: exercise the complete cloud + AI + dashboard pipeline before real hardware exists.</a:t>
            </a:r>
          </a:p>
          <a:p>
            <a:pPr algn="l" marL="237744" indent="-237744">
              <a:lnSpc>
                <a:spcPct val="105000"/>
              </a:lnSpc>
              <a:spcAft>
                <a:spcPts val="1000"/>
              </a:spcAft>
              <a:buFont typeface="Segoe UI"/>
              <a:buChar char="•"/>
            </a:pPr>
            <a:r>
              <a:rPr sz="1300" b="0" i="0">
                <a:solidFill>
                  <a:srgbClr val="1F2A37"/>
                </a:solidFill>
                <a:latin typeface="Segoe UI"/>
              </a:rPr>
              <a:t>Contains: ESP32 + SSD1306 OLED + two potentiometers + one push button.</a:t>
            </a:r>
          </a:p>
          <a:p>
            <a:pPr algn="l" marL="237744" indent="-237744">
              <a:lnSpc>
                <a:spcPct val="105000"/>
              </a:lnSpc>
              <a:spcAft>
                <a:spcPts val="1000"/>
              </a:spcAft>
              <a:buFont typeface="Segoe UI"/>
              <a:buChar char="•"/>
            </a:pPr>
            <a:r>
              <a:rPr sz="1300" b="0" i="0">
                <a:solidFill>
                  <a:srgbClr val="1F2A37"/>
                </a:solidFill>
                <a:latin typeface="Segoe UI"/>
              </a:rPr>
              <a:t>Posts to ThingSpeak every ~20 s, respecting the free-tier limit (≥ 15 s).</a:t>
            </a:r>
          </a:p>
          <a:p>
            <a:pPr algn="l" marL="237744" indent="-237744">
              <a:lnSpc>
                <a:spcPct val="105000"/>
              </a:lnSpc>
              <a:spcAft>
                <a:spcPts val="1000"/>
              </a:spcAft>
              <a:buFont typeface="Segoe UI"/>
              <a:buChar char="•"/>
            </a:pPr>
            <a:r>
              <a:rPr sz="1300" b="0" i="0">
                <a:solidFill>
                  <a:srgbClr val="1F2A37"/>
                </a:solidFill>
                <a:latin typeface="Segoe UI"/>
              </a:rPr>
              <a:t>The OLED shows live HR, SpO₂, quality and Wi-Fi status during the run.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92240" y="1371600"/>
          <a:ext cx="519379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456432"/>
              </a:tblGrid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Control</a:t>
                      </a:r>
                    </a:p>
                  </a:txBody>
                  <a:tcPr marL="82296" marR="82296" marT="18288" marB="18288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Effect</a:t>
                      </a:r>
                    </a:p>
                  </a:txBody>
                  <a:tcPr marL="82296" marR="82296" marT="18288" marB="18288" anchor="ctr">
                    <a:solidFill>
                      <a:srgbClr val="16324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HR potentiometer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heart rate 45–150 bpm → Field 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SpO₂ potentiometer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85–100 % → Field 2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Push button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manual / test flag → Field 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OLED display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live status on the virtual device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92240" y="4114800"/>
            <a:ext cx="5193792" cy="960120"/>
          </a:xfrm>
          <a:prstGeom prst="roundRect">
            <a:avLst>
              <a:gd name="adj" fmla="val 14000"/>
            </a:avLst>
          </a:prstGeom>
          <a:solidFill>
            <a:srgbClr val="FDF7EE"/>
          </a:solidFill>
          <a:ln w="1524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B45309"/>
                </a:solidFill>
                <a:latin typeface="Segoe UI"/>
              </a:rPr>
              <a:t>Honest note: the simulation validates the software pipeline — not sensor accuracy. Its values are synthetic by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Cloud logging — ThingSpeak channel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5669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65176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Field</a:t>
                      </a:r>
                    </a:p>
                  </a:txBody>
                  <a:tcPr marL="82296" marR="82296" marT="18288" marB="18288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 marL="82296" marR="82296" marT="18288" marB="18288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Values</a:t>
                      </a:r>
                    </a:p>
                  </a:txBody>
                  <a:tcPr marL="82296" marR="82296" marT="18288" marB="18288" anchor="ctr"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Field 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heart rate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bpm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Field 2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SpO₂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Field 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signal quality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0–100 %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Field 4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manual / test flag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 or 1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7960" y="1417320"/>
            <a:ext cx="5148072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9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Objective: durable cloud storage, MATLAB visualisations, and a pull point the PC can read.</a:t>
            </a:r>
          </a:p>
          <a:p>
            <a:pPr algn="l" marL="237744" indent="-237744">
              <a:lnSpc>
                <a:spcPct val="105000"/>
              </a:lnSpc>
              <a:spcAft>
                <a:spcPts val="9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Working: every accepted reading becomes one timestamped entry; the read API (feeds.json) returns them as JSON.</a:t>
            </a:r>
          </a:p>
          <a:p>
            <a:pPr algn="l" marL="237744" indent="-237744">
              <a:lnSpc>
                <a:spcPct val="105000"/>
              </a:lnSpc>
              <a:spcAft>
                <a:spcPts val="9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Only the newest entries matter for live use — the bridge reads the last 100 and picks up where it left off.</a:t>
            </a:r>
          </a:p>
          <a:p>
            <a:pPr algn="l" marL="237744" indent="-237744">
              <a:lnSpc>
                <a:spcPct val="105000"/>
              </a:lnSpc>
              <a:spcAft>
                <a:spcPts val="9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The write key lives only in the firmware; the channel is public for this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ThingSpeak → local API bridge (Python)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989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8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Polls feeds.json every 10 s and sorts entries by ID.</a:t>
            </a:r>
          </a:p>
          <a:p>
            <a:pPr algn="l" marL="237744" indent="-237744">
              <a:lnSpc>
                <a:spcPct val="105000"/>
              </a:lnSpc>
              <a:spcAft>
                <a:spcPts val="8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Skips everything already processed — the state file remembers the last entry ID, so no duplicates and no silent replays.</a:t>
            </a:r>
          </a:p>
          <a:p>
            <a:pPr algn="l" marL="237744" indent="-237744">
              <a:lnSpc>
                <a:spcPct val="105000"/>
              </a:lnSpc>
              <a:spcAft>
                <a:spcPts val="8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Validates numeric fields; a broken entry is retried, never skipped.</a:t>
            </a:r>
          </a:p>
          <a:p>
            <a:pPr algn="l" marL="237744" indent="-237744">
              <a:lnSpc>
                <a:spcPct val="105000"/>
              </a:lnSpc>
              <a:spcAft>
                <a:spcPts val="8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Forwards each new entry to POST /api/readings and prints the AI result to the console.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224528"/>
            <a:ext cx="5989320" cy="969264"/>
          </a:xfrm>
          <a:prstGeom prst="roundRect">
            <a:avLst>
              <a:gd name="adj" fmla="val 10000"/>
            </a:avLst>
          </a:prstGeom>
          <a:solidFill>
            <a:srgbClr val="10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D8E6F2"/>
                </a:solidFill>
                <a:latin typeface="Consolas"/>
              </a:rPr>
              <a:t>ThingSpeak entry 3 forwarded  |  HR=45 bpm  SpO2=100%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D8E6F2"/>
                </a:solidFill>
                <a:latin typeface="Consolas"/>
              </a:rPr>
              <a:t>API saved=True  |  AI flags=['heart_rate_outside_configured_review_band']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49240"/>
            <a:ext cx="5989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Segoe UI"/>
              </a:rPr>
              <a:t>Config:  THINGSPEAK_CHANNEL_ID (+ optional READ_API_KEY)  ·  first run processes only the latest entry; full history replay is opt-in via REPLAY_HISTORY_ON_FIRST_RUN.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371600"/>
            <a:ext cx="4965192" cy="1417320"/>
          </a:xfrm>
          <a:prstGeom prst="roundRect">
            <a:avLst>
              <a:gd name="adj" fmla="val 14000"/>
            </a:avLst>
          </a:prstGeom>
          <a:solidFill>
            <a:srgbClr val="FDF7EE"/>
          </a:solidFill>
          <a:ln w="1524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B45309"/>
                </a:solidFill>
                <a:latin typeface="Segoe UI"/>
              </a:rPr>
              <a:t>Why this exists: Wokwi runs in the cloud and cannot reach 127.0.0.1 on your PC. So instead of the device pushing to the laptop, the laptop pulls from the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3063240"/>
            <a:ext cx="4965192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700"/>
              </a:spcAft>
              <a:buFont typeface="Segoe UI"/>
              <a:buChar char="•"/>
            </a:pPr>
            <a:r>
              <a:rPr sz="1200" b="0" i="0">
                <a:solidFill>
                  <a:srgbClr val="1F2A37"/>
                </a:solidFill>
                <a:latin typeface="Segoe UI"/>
              </a:rPr>
              <a:t>Poll the channel (≤ 100 entries).</a:t>
            </a:r>
          </a:p>
          <a:p>
            <a:pPr algn="l" marL="237744" indent="-237744">
              <a:lnSpc>
                <a:spcPct val="105000"/>
              </a:lnSpc>
              <a:spcAft>
                <a:spcPts val="700"/>
              </a:spcAft>
              <a:buFont typeface="Segoe UI"/>
              <a:buChar char="•"/>
            </a:pPr>
            <a:r>
              <a:rPr sz="1200" b="0" i="0">
                <a:solidFill>
                  <a:srgbClr val="1F2A37"/>
                </a:solidFill>
                <a:latin typeface="Segoe UI"/>
              </a:rPr>
              <a:t>Keep only IDs newer than the state file.</a:t>
            </a:r>
          </a:p>
          <a:p>
            <a:pPr algn="l" marL="237744" indent="-237744">
              <a:lnSpc>
                <a:spcPct val="105000"/>
              </a:lnSpc>
              <a:spcAft>
                <a:spcPts val="700"/>
              </a:spcAft>
              <a:buFont typeface="Segoe UI"/>
              <a:buChar char="•"/>
            </a:pPr>
            <a:r>
              <a:rPr sz="1200" b="0" i="0">
                <a:solidFill>
                  <a:srgbClr val="1F2A37"/>
                </a:solidFill>
                <a:latin typeface="Segoe UI"/>
              </a:rPr>
              <a:t>Forward to the local API and check saved=True.</a:t>
            </a:r>
          </a:p>
          <a:p>
            <a:pPr algn="l" marL="237744" indent="-237744">
              <a:lnSpc>
                <a:spcPct val="105000"/>
              </a:lnSpc>
              <a:spcAft>
                <a:spcPts val="700"/>
              </a:spcAft>
              <a:buFont typeface="Segoe UI"/>
              <a:buChar char="•"/>
            </a:pPr>
            <a:r>
              <a:rPr sz="1200" b="0" i="0">
                <a:solidFill>
                  <a:srgbClr val="1F2A37"/>
                </a:solidFill>
                <a:latin typeface="Segoe UI"/>
              </a:rPr>
              <a:t>Advance the state file only after a successful save.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Local server — Node API + SQLite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6035039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749039"/>
              </a:tblGrid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Endpoint</a:t>
                      </a:r>
                    </a:p>
                  </a:txBody>
                  <a:tcPr marL="82296" marR="82296" marT="18288" marB="18288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Job</a:t>
                      </a:r>
                    </a:p>
                  </a:txBody>
                  <a:tcPr marL="82296" marR="82296" marT="18288" marB="18288" anchor="ctr">
                    <a:solidFill>
                      <a:srgbClr val="1632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POST /api/readings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validate → store → AI score → save flags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GET /api/readings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recent readings with their AI flags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POST/GET /api/symptoms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symptom journal entries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GET /api/health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service status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1417320"/>
            <a:ext cx="4919472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9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Range validation (HR 25–240, SpO₂ 70–100, quality 0–100) — bad data never reaches the database.</a:t>
            </a:r>
          </a:p>
          <a:p>
            <a:pPr algn="l" marL="237744" indent="-237744">
              <a:lnSpc>
                <a:spcPct val="105000"/>
              </a:lnSpc>
              <a:spcAft>
                <a:spcPts val="9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If AI_SERVICE_URL is configured, every reading is scored and its flags stored alongside.</a:t>
            </a:r>
          </a:p>
          <a:p>
            <a:pPr algn="l" marL="237744" indent="-237744">
              <a:lnSpc>
                <a:spcPct val="105000"/>
              </a:lnSpc>
              <a:spcAft>
                <a:spcPts val="9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SQLite in WAL mode with two tables (readings, symptoms); the database is created automatically and older files upgrade in place.</a:t>
            </a:r>
          </a:p>
          <a:p>
            <a:pPr algn="l" marL="237744" indent="-237744">
              <a:lnSpc>
                <a:spcPct val="105000"/>
              </a:lnSpc>
              <a:spcAft>
                <a:spcPts val="9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Bound to the local network only — nothing is exposed to the internet.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What the AI service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i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188720"/>
            <a:ext cx="845820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532120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400"/>
              </a:spcAft>
              <a:buFont typeface="Segoe UI"/>
              <a:buChar char="•"/>
            </a:pPr>
            <a:r>
              <a:rPr sz="1150" b="0" i="0">
                <a:solidFill>
                  <a:srgbClr val="1F2A37"/>
                </a:solidFill>
                <a:latin typeface="Segoe UI"/>
              </a:rPr>
              <a:t>A local FastAPI microservice (POST /score) — no health data leaves the computer.</a:t>
            </a:r>
          </a:p>
          <a:p>
            <a:pPr algn="l" marL="237744" indent="-237744">
              <a:lnSpc>
                <a:spcPct val="105000"/>
              </a:lnSpc>
              <a:spcAft>
                <a:spcPts val="400"/>
              </a:spcAft>
              <a:buFont typeface="Segoe UI"/>
              <a:buChar char="•"/>
            </a:pPr>
            <a:r>
              <a:rPr sz="1150" b="0" i="0">
                <a:solidFill>
                  <a:srgbClr val="1F2A37"/>
                </a:solidFill>
                <a:latin typeface="Segoe UI"/>
              </a:rPr>
              <a:t>Stage 1 rules are deterministic and explainable; Stage 2 learns what is normal for this device only, in memory, and needs ≥ 50 samples before it says anything.</a:t>
            </a:r>
          </a:p>
          <a:p>
            <a:pPr algn="l" marL="237744" indent="-237744">
              <a:lnSpc>
                <a:spcPct val="105000"/>
              </a:lnSpc>
              <a:spcAft>
                <a:spcPts val="400"/>
              </a:spcAft>
              <a:buFont typeface="Segoe UI"/>
              <a:buChar char="•"/>
            </a:pPr>
            <a:r>
              <a:rPr sz="1150" b="0" i="0">
                <a:solidFill>
                  <a:srgbClr val="1F2A37"/>
                </a:solidFill>
                <a:latin typeface="Segoe UI"/>
              </a:rPr>
              <a:t>The response itself carries the disclaimer: experimental screening aid, not validated for diagnosis or arrhythmia detection.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What the AI returned — real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47091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10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Live example — ThingSpeak entry 3:  HR 45 bpm →  flag: “heart rate outside configured review band”; stored and shown on the dashboard.</a:t>
            </a:r>
          </a:p>
          <a:p>
            <a:pPr algn="l" marL="237744" indent="-237744">
              <a:lnSpc>
                <a:spcPct val="105000"/>
              </a:lnSpc>
              <a:spcAft>
                <a:spcPts val="10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Verification session (61 readings):  one HR 152 bpm outlier received 5 flags, including “unusual relative to recent device history” (Isolation Forest, anomaly = 1).</a:t>
            </a:r>
          </a:p>
          <a:p>
            <a:pPr algn="l" marL="237744" indent="-237744">
              <a:lnSpc>
                <a:spcPct val="105000"/>
              </a:lnSpc>
              <a:spcAft>
                <a:spcPts val="10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Every flag is a prompt to review context — never a conclusion.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160520"/>
            <a:ext cx="4709160" cy="1645920"/>
          </a:xfrm>
          <a:prstGeom prst="roundRect">
            <a:avLst>
              <a:gd name="adj" fmla="val 10000"/>
            </a:avLst>
          </a:prstGeom>
          <a:solidFill>
            <a:srgbClr val="10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D8E6F2"/>
                </a:solidFill>
                <a:latin typeface="Consolas"/>
              </a:rPr>
              <a:t>“reviewFlags”: [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D8E6F2"/>
                </a:solidFill>
                <a:latin typeface="Consolas"/>
              </a:rPr>
              <a:t>   “low_signal_quality”,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D8E6F2"/>
                </a:solidFill>
                <a:latin typeface="Consolas"/>
              </a:rPr>
              <a:t>   “heart_rate_outside_configured_review_band”,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D8E6F2"/>
                </a:solidFill>
                <a:latin typeface="Consolas"/>
              </a:rPr>
              <a:t>   “spo2_below_configured_review_threshold”,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D8E6F2"/>
                </a:solidFill>
                <a:latin typeface="Consolas"/>
              </a:rPr>
              <a:t>   “pulse_interval_variability_flag_from_firmware”,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D8E6F2"/>
                </a:solidFill>
                <a:latin typeface="Consolas"/>
              </a:rPr>
              <a:t>   “unusual_relative_to_recent_device_history”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D8E6F2"/>
                </a:solidFill>
                <a:latin typeface="Consolas"/>
              </a:rPr>
              <a:t>],  “unsupervisedAnomaly”: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7044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8FA0B3"/>
                </a:solidFill>
                <a:latin typeface="Segoe UI"/>
              </a:rPr>
              <a:t>The stored AI response for the outlier — verbatim.</a:t>
            </a:r>
          </a:p>
        </p:txBody>
      </p:sp>
      <p:pic>
        <p:nvPicPr>
          <p:cNvPr id="8" name="Picture 7" descr="anomal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481328"/>
            <a:ext cx="6245352" cy="2838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40680" y="4370832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8FA0B3"/>
                </a:solidFill>
                <a:latin typeface="Segoe UI"/>
              </a:rPr>
              <a:t>Verification run: baseline, planned special readings and the flagged outlier.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The dashboard — where the user meets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5943600" cy="4689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1371600"/>
            <a:ext cx="4965192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9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Metric cards: latest heart rate, SpO₂, signal quality, sample count.</a:t>
            </a:r>
          </a:p>
          <a:p>
            <a:pPr algn="l" marL="237744" indent="-237744">
              <a:lnSpc>
                <a:spcPct val="105000"/>
              </a:lnSpc>
              <a:spcAft>
                <a:spcPts val="9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“Latest AI-assisted review” panel: plain-language flags for the newest reading.</a:t>
            </a:r>
          </a:p>
          <a:p>
            <a:pPr algn="l" marL="237744" indent="-237744">
              <a:lnSpc>
                <a:spcPct val="105000"/>
              </a:lnSpc>
              <a:spcAft>
                <a:spcPts val="9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Measurements table: every reading with its AI flags — plus the symptom journal below.</a:t>
            </a:r>
          </a:p>
          <a:p>
            <a:pPr algn="l" marL="237744" indent="-237744">
              <a:lnSpc>
                <a:spcPct val="105000"/>
              </a:lnSpc>
              <a:spcAft>
                <a:spcPts val="9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Auto-refreshes every 10 s; open it from any device on the LAN.</a:t>
            </a:r>
          </a:p>
          <a:p>
            <a:pPr algn="l" marL="237744" indent="-237744">
              <a:lnSpc>
                <a:spcPct val="105000"/>
              </a:lnSpc>
              <a:spcAft>
                <a:spcPts val="900"/>
              </a:spcAft>
              <a:buFont typeface="Segoe UI"/>
              <a:buChar char="•"/>
            </a:pPr>
            <a:r>
              <a:rPr sz="1250" b="0" i="0">
                <a:solidFill>
                  <a:srgbClr val="1F2A37"/>
                </a:solidFill>
                <a:latin typeface="Segoe UI"/>
              </a:rPr>
              <a:t>Disclaimers are visible in the interface itself, not buried in documentation.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One reading,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85855" cy="279646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315968"/>
            <a:ext cx="11185855" cy="1170432"/>
          </a:xfrm>
          <a:prstGeom prst="roundRect">
            <a:avLst>
              <a:gd name="adj" fmla="val 9000"/>
            </a:avLst>
          </a:prstGeom>
          <a:solidFill>
            <a:srgbClr val="F2F5F9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F2A37"/>
                </a:solidFill>
                <a:latin typeface="Segoe UI"/>
              </a:rPr>
              <a:t>entry 3  ·  HR 45.0 bpm  ·  SpO₂ 100 %  ·  quality 95   →   forwarded by the bridge   →   saved by the API   →   AI flag: heart_rate_outside_configured_review_band   →   dashboard shows the row with the flag in plain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15000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400"/>
              </a:spcAft>
              <a:buFont typeface="Segoe UI"/>
              <a:buChar char="•"/>
            </a:pPr>
            <a:r>
              <a:rPr sz="1150" b="0" i="0">
                <a:solidFill>
                  <a:srgbClr val="1F2A37"/>
                </a:solidFill>
                <a:latin typeface="Segoe UI"/>
              </a:rPr>
              <a:t>If the API call fails, the bridge retries — the entry is never marked processed until the save succeeds.</a:t>
            </a:r>
          </a:p>
          <a:p>
            <a:pPr algn="l" marL="237744" indent="-237744">
              <a:lnSpc>
                <a:spcPct val="105000"/>
              </a:lnSpc>
              <a:spcAft>
                <a:spcPts val="400"/>
              </a:spcAft>
              <a:buFont typeface="Segoe UI"/>
              <a:buChar char="•"/>
            </a:pPr>
            <a:r>
              <a:rPr sz="1150" b="0" i="0">
                <a:solidFill>
                  <a:srgbClr val="1F2A37"/>
                </a:solidFill>
                <a:latin typeface="Segoe UI"/>
              </a:rPr>
              <a:t>The AI model's history is kept in memory, so a service restart simply starts learning again.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Verification results — observed on the running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831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976872"/>
              </a:tblGrid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Test</a:t>
                      </a:r>
                    </a:p>
                  </a:txBody>
                  <a:tcPr marL="82296" marR="82296" marT="18288" marB="18288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82296" marR="82296" marT="18288" marB="18288" anchor="ctr">
                    <a:solidFill>
                      <a:srgbClr val="1632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Live chain: ThingSpeak entry → dashboard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one real reading stored, scored and displayed — end to end in under one poll cycle  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Bridge duplicate safety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restarts and re-polls produced no duplicate rows  ✓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Broken-entry handling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corrupt entries were retried; the state file never advanced past unsaved data  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First-run policy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only the latest existing entry processed by default; replay is opt-in  ✓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AI anomaly stage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outlier flagged after 61 in-service samples (anomaly = 1)  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Dashboard QA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0 console errors, 0 failed network requests during the full session  ✓</a:t>
                      </a:r>
                    </a:p>
                  </a:txBody>
                  <a:tcPr marL="82296" marR="82296" marT="18288" marB="18288" anchor="ctr"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Integration defects found &amp; fixed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AI service startup, console encoding, SpO₂/quality unit display  ✓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70448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6B7C"/>
                </a:solidFill>
                <a:latin typeface="Segoe UI"/>
              </a:rPr>
              <a:t>Every row above was observed on the actual pipeline against the project's real ThingSpeak channel — not estimated.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Limitations, safety &amp;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C0392B"/>
                </a:solidFill>
                <a:latin typeface="Segoe UI"/>
              </a:rPr>
              <a:t>Limitations — stated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53949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700"/>
              </a:spcAft>
              <a:buFont typeface="Segoe UI"/>
              <a:buChar char="•"/>
            </a:pPr>
            <a:r>
              <a:rPr sz="1200" b="0" i="0">
                <a:solidFill>
                  <a:srgbClr val="1F2A37"/>
                </a:solidFill>
                <a:latin typeface="Segoe UI"/>
              </a:rPr>
              <a:t>Sensor data in the simulation is synthetic by design.</a:t>
            </a:r>
          </a:p>
          <a:p>
            <a:pPr algn="l" marL="237744" indent="-237744">
              <a:lnSpc>
                <a:spcPct val="105000"/>
              </a:lnSpc>
              <a:spcAft>
                <a:spcPts val="700"/>
              </a:spcAft>
              <a:buFont typeface="Segoe UI"/>
              <a:buChar char="•"/>
            </a:pPr>
            <a:r>
              <a:rPr sz="1200" b="0" i="0">
                <a:solidFill>
                  <a:srgbClr val="1F2A37"/>
                </a:solidFill>
                <a:latin typeface="Segoe UI"/>
              </a:rPr>
              <a:t>An optical PPG sensor is not an ECG and cannot see beat morphology.</a:t>
            </a:r>
          </a:p>
          <a:p>
            <a:pPr algn="l" marL="237744" indent="-237744">
              <a:lnSpc>
                <a:spcPct val="105000"/>
              </a:lnSpc>
              <a:spcAft>
                <a:spcPts val="700"/>
              </a:spcAft>
              <a:buFont typeface="Segoe UI"/>
              <a:buChar char="•"/>
            </a:pPr>
            <a:r>
              <a:rPr sz="1200" b="0" i="0">
                <a:solidFill>
                  <a:srgbClr val="1F2A37"/>
                </a:solidFill>
                <a:latin typeface="Segoe UI"/>
              </a:rPr>
              <a:t>The anomaly model is unsupervised and in-memory (it resets on restart).</a:t>
            </a:r>
          </a:p>
          <a:p>
            <a:pPr algn="l" marL="237744" indent="-237744">
              <a:lnSpc>
                <a:spcPct val="105000"/>
              </a:lnSpc>
              <a:spcAft>
                <a:spcPts val="700"/>
              </a:spcAft>
              <a:buFont typeface="Segoe UI"/>
              <a:buChar char="•"/>
            </a:pPr>
            <a:r>
              <a:rPr sz="1200" b="0" i="0">
                <a:solidFill>
                  <a:srgbClr val="1F2A37"/>
                </a:solidFill>
                <a:latin typeface="Segoe UI"/>
              </a:rPr>
              <a:t>Thresholds are prototype choices, not clinical values; symptoms are self-reported.</a:t>
            </a:r>
          </a:p>
          <a:p>
            <a:pPr algn="l" marL="237744" indent="-237744">
              <a:lnSpc>
                <a:spcPct val="105000"/>
              </a:lnSpc>
              <a:spcAft>
                <a:spcPts val="700"/>
              </a:spcAft>
              <a:buFont typeface="Segoe UI"/>
              <a:buChar char="•"/>
            </a:pPr>
            <a:r>
              <a:rPr sz="1200" b="0" i="0">
                <a:solidFill>
                  <a:srgbClr val="1F2A37"/>
                </a:solidFill>
                <a:latin typeface="Segoe UI"/>
              </a:rPr>
              <a:t>Local use only: no accounts, no encryption at rest.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5803D"/>
                </a:solidFill>
                <a:latin typeface="Segoe UI"/>
              </a:rPr>
              <a:t>Safety rules &amp;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64208"/>
            <a:ext cx="5285232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700"/>
              </a:spcAft>
              <a:buFont typeface="Segoe UI"/>
              <a:buChar char="•"/>
            </a:pPr>
            <a:r>
              <a:rPr sz="1200" b="0" i="0">
                <a:solidFill>
                  <a:srgbClr val="1F2A37"/>
                </a:solidFill>
                <a:latin typeface="Segoe UI"/>
              </a:rPr>
              <a:t>Frame it as a logging and review aid — never as a diagnosis; keep disclaimers visible.</a:t>
            </a:r>
          </a:p>
          <a:p>
            <a:pPr algn="l" marL="237744" indent="-237744">
              <a:lnSpc>
                <a:spcPct val="105000"/>
              </a:lnSpc>
              <a:spcAft>
                <a:spcPts val="700"/>
              </a:spcAft>
              <a:buFont typeface="Segoe UI"/>
              <a:buChar char="•"/>
            </a:pPr>
            <a:r>
              <a:rPr sz="1200" b="0" i="0">
                <a:solidFill>
                  <a:srgbClr val="1F2A37"/>
                </a:solidFill>
                <a:latin typeface="Segoe UI"/>
              </a:rPr>
              <a:t>Keep API keys private; rotate any key that is ever shared in a screenshot.</a:t>
            </a:r>
          </a:p>
          <a:p>
            <a:pPr algn="l" marL="237744" indent="-237744">
              <a:lnSpc>
                <a:spcPct val="105000"/>
              </a:lnSpc>
              <a:spcAft>
                <a:spcPts val="700"/>
              </a:spcAft>
              <a:buFont typeface="Segoe UI"/>
              <a:buChar char="•"/>
            </a:pPr>
            <a:r>
              <a:rPr sz="1200" b="0" i="0">
                <a:solidFill>
                  <a:srgbClr val="1F2A37"/>
                </a:solidFill>
                <a:latin typeface="Segoe UI"/>
              </a:rPr>
              <a:t>Next: collect real labelled data with an ECG reference.</a:t>
            </a:r>
          </a:p>
          <a:p>
            <a:pPr algn="l" marL="237744" indent="-237744">
              <a:lnSpc>
                <a:spcPct val="105000"/>
              </a:lnSpc>
              <a:spcAft>
                <a:spcPts val="700"/>
              </a:spcAft>
              <a:buFont typeface="Segoe UI"/>
              <a:buChar char="•"/>
            </a:pPr>
            <a:r>
              <a:rPr sz="1200" b="0" i="0">
                <a:solidFill>
                  <a:srgbClr val="1F2A37"/>
                </a:solidFill>
                <a:latin typeface="Segoe UI"/>
              </a:rPr>
              <a:t>Then: validated metrics (sensitivity / specificity) and a supervised model trained on that data.</a:t>
            </a:r>
          </a:p>
          <a:p>
            <a:pPr algn="l" marL="237744" indent="-237744">
              <a:lnSpc>
                <a:spcPct val="105000"/>
              </a:lnSpc>
              <a:spcAft>
                <a:spcPts val="700"/>
              </a:spcAft>
              <a:buFont typeface="Segoe UI"/>
              <a:buChar char="•"/>
            </a:pPr>
            <a:r>
              <a:rPr sz="1200" b="0" i="0">
                <a:solidFill>
                  <a:srgbClr val="1F2A37"/>
                </a:solidFill>
                <a:latin typeface="Segoe UI"/>
              </a:rPr>
              <a:t>Later: persistent training, alerts, multi-user access, documented protocol.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30175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Segoe U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14630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82009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1300"/>
              </a:spcAft>
              <a:buFont typeface="Segoe UI"/>
              <a:buChar char="•"/>
            </a:pPr>
            <a:r>
              <a:rPr sz="1450" b="0" i="0">
                <a:solidFill>
                  <a:srgbClr val="1F2A37"/>
                </a:solidFill>
                <a:latin typeface="Segoe UI"/>
              </a:rPr>
              <a:t>A complete pipeline was built and verified end to end: simulation → cloud → bridge → API → AI review → SQLite → dashboard.</a:t>
            </a:r>
          </a:p>
          <a:p>
            <a:pPr algn="l" marL="237744" indent="-237744">
              <a:lnSpc>
                <a:spcPct val="105000"/>
              </a:lnSpc>
              <a:spcAft>
                <a:spcPts val="1300"/>
              </a:spcAft>
              <a:buFont typeface="Segoe UI"/>
              <a:buChar char="•"/>
            </a:pPr>
            <a:r>
              <a:rPr sz="1450" b="0" i="0">
                <a:solidFill>
                  <a:srgbClr val="1F2A37"/>
                </a:solidFill>
                <a:latin typeface="Segoe UI"/>
              </a:rPr>
              <a:t>Each component has one clear job, and every failure mode found during testing was fixed and re-verified.</a:t>
            </a:r>
          </a:p>
          <a:p>
            <a:pPr algn="l" marL="237744" indent="-237744">
              <a:lnSpc>
                <a:spcPct val="105000"/>
              </a:lnSpc>
              <a:spcAft>
                <a:spcPts val="1300"/>
              </a:spcAft>
              <a:buFont typeface="Segoe UI"/>
              <a:buChar char="•"/>
            </a:pPr>
            <a:r>
              <a:rPr sz="1450" b="0" i="0">
                <a:solidFill>
                  <a:srgbClr val="1F2A37"/>
                </a:solidFill>
                <a:latin typeface="Segoe UI"/>
              </a:rPr>
              <a:t>The AI layer adds transparent review flags plus an experimental anomaly signal — framed as an aid, not a diagnosis.</a:t>
            </a:r>
          </a:p>
          <a:p>
            <a:pPr algn="l" marL="237744" indent="-237744">
              <a:lnSpc>
                <a:spcPct val="105000"/>
              </a:lnSpc>
              <a:spcAft>
                <a:spcPts val="1300"/>
              </a:spcAft>
              <a:buFont typeface="Segoe UI"/>
              <a:buChar char="•"/>
            </a:pPr>
            <a:r>
              <a:rPr sz="1450" b="0" i="0">
                <a:solidFill>
                  <a:srgbClr val="1F2A37"/>
                </a:solidFill>
                <a:latin typeface="Segoe UI"/>
              </a:rPr>
              <a:t>The system is ready for its next phase: real sensor data and formal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892040"/>
            <a:ext cx="11185855" cy="1051560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 w="1524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16324F"/>
                </a:solidFill>
                <a:latin typeface="Segoe UI"/>
              </a:rPr>
              <a:t>Thank you —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Pulse Monitor  ·  ESP32 heart-rate &amp; SpO₂ pipeline with AI-assisted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FA0B3"/>
                </a:solidFill>
                <a:latin typeface="Segoe U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Monitor — ESP32 heart-rate &amp; SpO2 pipeline with AI-assisted review</dc:title>
  <dc:subject>Academic project presentation</dc:subject>
  <dc:creator>Pulse Monitor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